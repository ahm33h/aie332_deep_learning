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images</c:v>
                </c:pt>
              </c:strCache>
            </c:strRef>
          </c:tx>
          <c:spPr>
            <a:solidFill>
              <a:srgbClr val="255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Buildings</c:v>
                  </c:pt>
                  <c:pt idx="1">
                    <c:v>Forest</c:v>
                  </c:pt>
                  <c:pt idx="2">
                    <c:v>Glacier</c:v>
                  </c:pt>
                  <c:pt idx="3">
                    <c:v>Mountain</c:v>
                  </c:pt>
                  <c:pt idx="4">
                    <c:v>Sea</c:v>
                  </c:pt>
                  <c:pt idx="5">
                    <c:v>Street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2191</c:v>
                </c:pt>
                <c:pt idx="1">
                  <c:v>2271</c:v>
                </c:pt>
                <c:pt idx="2">
                  <c:v>2404</c:v>
                </c:pt>
                <c:pt idx="3">
                  <c:v>2512</c:v>
                </c:pt>
                <c:pt idx="4">
                  <c:v>2274</c:v>
                </c:pt>
                <c:pt idx="5">
                  <c:v>2382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2554C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Custom CNN</c:v>
                  </c:pt>
                  <c:pt idx="1">
                    <c:v>ResNet18</c:v>
                  </c:pt>
                  <c:pt idx="2">
                    <c:v>ViT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80.3</c:v>
                </c:pt>
                <c:pt idx="1">
                  <c:v>91</c:v>
                </c:pt>
                <c:pt idx="2">
                  <c:v>92.17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 (%)</c:v>
                </c:pt>
              </c:strCache>
            </c:strRef>
          </c:tx>
          <c:spPr>
            <a:solidFill>
              <a:srgbClr val="255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Custom CNN</c:v>
                  </c:pt>
                  <c:pt idx="1">
                    <c:v>ResNet18</c:v>
                  </c:pt>
                  <c:pt idx="2">
                    <c:v>ViT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80.56</c:v>
                </c:pt>
                <c:pt idx="1">
                  <c:v>91.16</c:v>
                </c:pt>
                <c:pt idx="2">
                  <c:v>92.35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F1 (%)</c:v>
                </c:pt>
              </c:strCache>
            </c:strRef>
          </c:tx>
          <c:spPr>
            <a:solidFill>
              <a:srgbClr val="9DB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Custom CNN</c:v>
                  </c:pt>
                  <c:pt idx="1">
                    <c:v>ResNet18</c:v>
                  </c:pt>
                  <c:pt idx="2">
                    <c:v>ViT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80.43</c:v>
                </c:pt>
                <c:pt idx="1">
                  <c:v>90.97</c:v>
                </c:pt>
                <c:pt idx="2">
                  <c:v>92.12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validation (%)</c:v>
                </c:pt>
              </c:strCache>
            </c:strRef>
          </c:tx>
          <c:spPr>
            <a:solidFill>
              <a:srgbClr val="255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Custom CNN</c:v>
                  </c:pt>
                  <c:pt idx="1">
                    <c:v>ResNet18</c:v>
                  </c:pt>
                  <c:pt idx="2">
                    <c:v>ViT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80.69</c:v>
                </c:pt>
                <c:pt idx="1">
                  <c:v>90.92</c:v>
                </c:pt>
                <c:pt idx="2">
                  <c:v>92.55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(%)</c:v>
                </c:pt>
              </c:strCache>
            </c:strRef>
          </c:tx>
          <c:spPr>
            <a:solidFill>
              <a:srgbClr val="9DB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Custom CNN</c:v>
                  </c:pt>
                  <c:pt idx="1">
                    <c:v>ResNet18</c:v>
                  </c:pt>
                  <c:pt idx="2">
                    <c:v>ViT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80.3</c:v>
                </c:pt>
                <c:pt idx="1">
                  <c:v>91</c:v>
                </c:pt>
                <c:pt idx="2">
                  <c:v>92.17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Classification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Image Classification Dataset  •  6 scene classes  •  3 models compared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79476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92.17%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432511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test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77258" y="379476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77258" y="432511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classes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14437" y="379476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914437" y="432511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CNN  •  ResNet18  •  Vision Transformer (ViT)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six natural-scene categories from images.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68698" y="19202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68698" y="242316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 custom CNN with ResNet18 and ViT.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7317" y="19202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97317" y="242316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accuracy, F1 scores, and parameter counts.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14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notebook consolidates results from the completed model notebooks.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is retrained in the comparison stage.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Image Classification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14,034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542032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images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67964" y="2011680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367964" y="2542032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images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5848" y="2011680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5848" y="2542032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23731" y="2011680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/ 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823731" y="2542032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validation split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1666189" cy="502920"/>
          </a:xfrm>
          <a:prstGeom prst="roundRect">
            <a:avLst>
              <a:gd name="adj" fmla="val 14545"/>
            </a:avLst>
          </a:prstGeom>
          <a:solidFill>
            <a:srgbClr val="EA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947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89149" y="3794760"/>
            <a:ext cx="1666189" cy="502920"/>
          </a:xfrm>
          <a:prstGeom prst="roundRect">
            <a:avLst>
              <a:gd name="adj" fmla="val 14545"/>
            </a:avLst>
          </a:prstGeom>
          <a:solidFill>
            <a:srgbClr val="EAF0FF"/>
          </a:solidFill>
          <a:ln/>
        </p:spPr>
      </p:sp>
      <p:sp>
        <p:nvSpPr>
          <p:cNvPr id="17" name="Text 15"/>
          <p:cNvSpPr/>
          <p:nvPr/>
        </p:nvSpPr>
        <p:spPr>
          <a:xfrm>
            <a:off x="2489149" y="37947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38218" y="3794760"/>
            <a:ext cx="1666189" cy="502920"/>
          </a:xfrm>
          <a:prstGeom prst="roundRect">
            <a:avLst>
              <a:gd name="adj" fmla="val 14545"/>
            </a:avLst>
          </a:prstGeom>
          <a:solidFill>
            <a:srgbClr val="EA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4338218" y="37947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Glacier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87288" y="3794760"/>
            <a:ext cx="1666189" cy="502920"/>
          </a:xfrm>
          <a:prstGeom prst="roundRect">
            <a:avLst>
              <a:gd name="adj" fmla="val 14545"/>
            </a:avLst>
          </a:prstGeom>
          <a:solidFill>
            <a:srgbClr val="EA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6187288" y="37947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36357" y="3794760"/>
            <a:ext cx="1666189" cy="502920"/>
          </a:xfrm>
          <a:prstGeom prst="roundRect">
            <a:avLst>
              <a:gd name="adj" fmla="val 14545"/>
            </a:avLst>
          </a:prstGeom>
          <a:solidFill>
            <a:srgbClr val="EA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8036357" y="37947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85426" y="3794760"/>
            <a:ext cx="1666189" cy="502920"/>
          </a:xfrm>
          <a:prstGeom prst="roundRect">
            <a:avLst>
              <a:gd name="adj" fmla="val 14545"/>
            </a:avLst>
          </a:prstGeom>
          <a:solidFill>
            <a:srgbClr val="EA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9885426" y="37947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2554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52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are loaded from class folders using ImageFolder.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6544" y="1920240"/>
            <a:ext cx="411480" cy="411480"/>
          </a:xfrm>
          <a:prstGeom prst="ellipse">
            <a:avLst/>
          </a:prstGeom>
          <a:solidFill>
            <a:srgbClr val="2554C7"/>
          </a:solidFill>
          <a:ln/>
        </p:spPr>
      </p:sp>
      <p:sp>
        <p:nvSpPr>
          <p:cNvPr id="9" name="Text 7"/>
          <p:cNvSpPr/>
          <p:nvPr/>
        </p:nvSpPr>
        <p:spPr>
          <a:xfrm>
            <a:off x="3436544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36544" y="246888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36544" y="2880360"/>
            <a:ext cx="252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are resized and converted to tensors for model input.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1920240"/>
            <a:ext cx="411480" cy="411480"/>
          </a:xfrm>
          <a:prstGeom prst="ellipse">
            <a:avLst/>
          </a:prstGeom>
          <a:solidFill>
            <a:srgbClr val="2554C7"/>
          </a:solidFill>
          <a:ln/>
        </p:spPr>
      </p:sp>
      <p:sp>
        <p:nvSpPr>
          <p:cNvPr id="13" name="Text 11"/>
          <p:cNvSpPr/>
          <p:nvPr/>
        </p:nvSpPr>
        <p:spPr>
          <a:xfrm>
            <a:off x="6233008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33008" y="246888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33008" y="2880360"/>
            <a:ext cx="252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are divided into training and validation subsets.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29471" y="1920240"/>
            <a:ext cx="411480" cy="411480"/>
          </a:xfrm>
          <a:prstGeom prst="ellipse">
            <a:avLst/>
          </a:prstGeom>
          <a:solidFill>
            <a:srgbClr val="2554C7"/>
          </a:solidFill>
          <a:ln/>
        </p:spPr>
      </p:sp>
      <p:sp>
        <p:nvSpPr>
          <p:cNvPr id="17" name="Text 15"/>
          <p:cNvSpPr/>
          <p:nvPr/>
        </p:nvSpPr>
        <p:spPr>
          <a:xfrm>
            <a:off x="9029471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29471" y="2468880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29471" y="2880360"/>
            <a:ext cx="2522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verification checks the model input tensor shape.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recorded split contains 11,227 training images and 2,807 validation images.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ViT pipeline uses 224 × 224 inputs and a batch size of 32.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Distribution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images by class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91153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3818" cy="3566160"/>
          </a:xfrm>
          <a:prstGeom prst="roundRect">
            <a:avLst>
              <a:gd name="adj" fmla="val 2137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CNN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convolutional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establish a reference performance level.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3938" y="1920240"/>
            <a:ext cx="3423818" cy="3566160"/>
          </a:xfrm>
          <a:prstGeom prst="roundRect">
            <a:avLst>
              <a:gd name="adj" fmla="val 2137"/>
            </a:avLst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4658258" y="219456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58258" y="27889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residual CNN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58258" y="384048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evaluate transfer learning with a strong CNN.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7797" y="1920240"/>
            <a:ext cx="3423818" cy="3566160"/>
          </a:xfrm>
          <a:prstGeom prst="roundRect">
            <a:avLst>
              <a:gd name="adj" fmla="val 2137"/>
            </a:avLst>
          </a:prstGeom>
          <a:solidFill>
            <a:srgbClr val="EA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8402117" y="219456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Transformer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02117" y="27889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transformer-based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02117" y="3840480"/>
            <a:ext cx="28751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evaluate attention-based image representation.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CNN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baseline result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80.30%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77258" y="228600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80.69%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277258" y="3108960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validation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14437" y="228600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80.56%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914437" y="3108960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148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 CNN provides the baseline for the project.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performance is lower than both pretrained approaches.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transfer-learning result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77258" y="228600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90.92%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277258" y="3108960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validation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14437" y="228600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914437" y="3108960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 parameters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148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 improves test accuracy by 10.70 percentage points over the Custom CNN.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provides strong performance with a small trainable parameter count.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Transformer (ViT)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final result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92.17%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77258" y="228600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92.55%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277258" y="3108960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validation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14437" y="2286000"/>
            <a:ext cx="3362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92.35%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914437" y="3108960"/>
            <a:ext cx="336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148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has the highest test accuracy and F1 scores in the final comparison.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total parameter count is much larger, so the performance comes with higher model-size cost.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Accuracy Comparison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1091153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Comparison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1091153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vs Test Accuracy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1091153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—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EAF0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performance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74720" y="1874520"/>
            <a:ext cx="7802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achieves 92.17% test accuracy and 92.35% Macro F1.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alternative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2926080"/>
            <a:ext cx="7802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 reaches 91.00% test accuracy with far fewer trainable parameters.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77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3977640"/>
            <a:ext cx="7802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CNN reaches 80.30% and establishes the comparison baseline.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0352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improves on the Custom CNN by 11.87 percentage points and on ResNet18 by 1.17 percentage points.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choice involves a trade-off between maximum performance and model efficiency.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Transformer achieved the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overall performance.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7033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92.17%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553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5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92.35%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4553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2026-08-25T22:59:55Z</dcterms:created>
  <dcterms:modified xsi:type="dcterms:W3CDTF">2026-08-25T22:59:55Z</dcterms:modified>
</cp:coreProperties>
</file>